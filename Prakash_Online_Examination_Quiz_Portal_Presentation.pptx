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74320"/>
            <a:ext cx="3840480" cy="3840480"/>
          </a:xfrm>
          <a:prstGeom prst="ellipse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3383280"/>
            <a:ext cx="2926080" cy="2926080"/>
          </a:xfrm>
          <a:prstGeom prst="ellipse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4754880"/>
            <a:ext cx="2194560" cy="2194560"/>
          </a:xfrm>
          <a:prstGeom prst="ellipse">
            <a:avLst/>
          </a:prstGeom>
          <a:solidFill>
            <a:srgbClr val="26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7132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3DCE0"/>
                </a:solidFill>
                <a:latin typeface="Aptos"/>
              </a:rPr>
              <a:t>UNIVERSITY COLLEGE OF ENGINEERING, BIT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7132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3DCE0"/>
                </a:solidFill>
                <a:latin typeface="Aptos"/>
              </a:rPr>
              <a:t>ANNA UNIVERSITY, TIRUCHIRAPPALLI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132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AB141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758952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ONLINE EXAMINATION
AND QUIZ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65836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E0D2"/>
                </a:solidFill>
                <a:latin typeface="Aptos"/>
              </a:rPr>
              <a:t>SUMMER 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6126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PRAKASH M  |  REG. NO. 810023205007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38928"/>
            <a:ext cx="6126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DCE2EA"/>
                </a:solidFill>
                <a:latin typeface="Aptos"/>
              </a:rPr>
              <a:t>Internship Organisation: Fantasy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6126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AB141"/>
                </a:solidFill>
                <a:latin typeface="Aptos"/>
              </a:rPr>
              <a:t>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263640"/>
            <a:ext cx="1005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A web-based portal for conducting objective examinations and quizzes.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Digitizes registration, login, quiz delivery, evaluation and result display.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Uses a centralized database to manage student profiles, questions and scores.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Designed with separate Student and Admin access roles.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Project focus: faster evaluation, fewer manual errors and easier record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Paper-based exams require printing, distribution, collection and physical storage.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Manual checking can delay results and introduce calculation errors.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Maintaining question sets and student records manually is time-consuming.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Students may not receive immediate performance feedback.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A centralized online solution can streamline the assessment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Develop a full-stack application using Java web technologies.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Provide secure login and role-based access for students and administrators.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Manage multiple-choice questions in a centralized question bank.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Evaluate submitted answers automatically and display scores promptly.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Gain practical experience in requirements, design, coding and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Internship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COMPANY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Organisation: Fantasy Solution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Internship period stated in the report: August 2026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Training context: software development and database integration.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Exposure areas included system analysis, schema design and MVC architecture.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The report describes practical work aligned with full-stack application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691640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53895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22340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2807"/>
            <a:ext cx="4837176" cy="1033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7313D"/>
                </a:solidFill>
                <a:latin typeface="Aptos"/>
              </a:rPr>
              <a:t>HTML5 • CSS3
JavaScript • Bootstrap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73152" cy="1691640"/>
          </a:xfrm>
          <a:prstGeom prst="rect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53895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22340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7"/>
            <a:ext cx="4837176" cy="1033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7313D"/>
                </a:solidFill>
                <a:latin typeface="Aptos"/>
              </a:rPr>
              <a:t>Java Servlets
JSP • Apache Tomcat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73152" cy="1691640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02736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22340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41648"/>
            <a:ext cx="4837176" cy="1033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7313D"/>
                </a:solidFill>
                <a:latin typeface="Aptos"/>
              </a:rPr>
              <a:t>MySQL
Relational tables and queries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4747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474720"/>
            <a:ext cx="73152" cy="1691640"/>
          </a:xfrm>
          <a:prstGeom prst="rect">
            <a:avLst/>
          </a:prstGeom>
          <a:solidFill>
            <a:srgbClr val="82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02736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22340"/>
                </a:solidFill>
                <a:latin typeface="Aptos"/>
              </a:rPr>
              <a:t>Connectivity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41648"/>
            <a:ext cx="4837176" cy="1033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7313D"/>
                </a:solidFill>
                <a:latin typeface="Aptos"/>
              </a:rPr>
              <a:t>JDBC
Database 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Three-Tier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7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2651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745D"/>
                </a:solidFill>
                <a:latin typeface="Aptos"/>
              </a:rPr>
              <a:t>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560320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Browser UI
HTML • CSS • JavaScript • Bootstrap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1732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B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18488"/>
            <a:ext cx="2651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AB141"/>
                </a:solidFill>
                <a:latin typeface="Aptos"/>
              </a:rPr>
              <a:t>APPLICATION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103120"/>
            <a:ext cx="2560320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Tomcat Server
Java Servlets • JSP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417320"/>
            <a:ext cx="29260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618488"/>
            <a:ext cx="2651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366991"/>
                </a:solidFill>
                <a:latin typeface="Aptos"/>
              </a:rPr>
              <a:t>DATA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103120"/>
            <a:ext cx="2560320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MySQL Database
Users • Questions • Results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39" y="2331720"/>
            <a:ext cx="868681" cy="0"/>
          </a:xfrm>
          <a:prstGeom prst="line">
            <a:avLst/>
          </a:prstGeom>
          <a:ln w="25400">
            <a:solidFill>
              <a:srgbClr val="12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2331720"/>
            <a:ext cx="868680" cy="0"/>
          </a:xfrm>
          <a:prstGeom prst="line">
            <a:avLst/>
          </a:prstGeom>
          <a:ln w="25400">
            <a:solidFill>
              <a:srgbClr val="12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977639"/>
            <a:ext cx="104241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122340"/>
                </a:solidFill>
                <a:latin typeface="Aptos"/>
              </a:rPr>
              <a:t>Request → Processing → Database operation →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99669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667380"/>
                </a:solidFill>
                <a:latin typeface="Aptos"/>
              </a:rPr>
              <a:t>Presentation handles user interaction; application logic validates and evaluates; MySQL stores persistent records.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Core Project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2880360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2821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340"/>
                </a:solidFill>
                <a:latin typeface="Aptos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191256" cy="22219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Registration, login, credential validation and role-based dashboard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60020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1600200"/>
            <a:ext cx="73152" cy="2880360"/>
          </a:xfrm>
          <a:prstGeom prst="rect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72821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340"/>
                </a:solidFill>
                <a:latin typeface="Aptos"/>
              </a:rPr>
              <a:t>Question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167128"/>
            <a:ext cx="3191256" cy="22219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Admin creates, views, edits and deletes multiple-choice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60020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0183" y="1600200"/>
            <a:ext cx="73152" cy="2880360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1728216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340"/>
                </a:solidFill>
                <a:latin typeface="Aptos"/>
              </a:rPr>
              <a:t>Examination &amp;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2167128"/>
            <a:ext cx="3191256" cy="22219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Students submit answers; the system calculates and displays a score.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6070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667380"/>
                </a:solidFill>
                <a:latin typeface="Aptos"/>
              </a:rPr>
              <a:t>Each module has a defined responsibility to simplify maintenance and testing.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Quiz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645920"/>
            <a:ext cx="594360" cy="594360"/>
          </a:xfrm>
          <a:prstGeom prst="ellipse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594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340"/>
                </a:solidFill>
                <a:latin typeface="Aptos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600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7380"/>
                </a:solidFill>
                <a:latin typeface="Aptos"/>
              </a:rPr>
              <a:t>Validate user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1938528"/>
            <a:ext cx="731519" cy="0"/>
          </a:xfrm>
          <a:prstGeom prst="line">
            <a:avLst/>
          </a:prstGeom>
          <a:ln w="19050">
            <a:solidFill>
              <a:srgbClr val="12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44368" y="1645920"/>
            <a:ext cx="594360" cy="594360"/>
          </a:xfrm>
          <a:prstGeom prst="ellipse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755648"/>
            <a:ext cx="594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42316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340"/>
                </a:solidFill>
                <a:latin typeface="Aptos"/>
              </a:rPr>
              <a:t>Select Quiz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926080"/>
            <a:ext cx="1600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7380"/>
                </a:solidFill>
                <a:latin typeface="Aptos"/>
              </a:rPr>
              <a:t>Load questions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4448" y="1938528"/>
            <a:ext cx="731520" cy="0"/>
          </a:xfrm>
          <a:prstGeom prst="line">
            <a:avLst/>
          </a:prstGeom>
          <a:ln w="19050">
            <a:solidFill>
              <a:srgbClr val="12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882896" y="1645920"/>
            <a:ext cx="594360" cy="594360"/>
          </a:xfrm>
          <a:prstGeom prst="ellipse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1755648"/>
            <a:ext cx="594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42316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340"/>
                </a:solidFill>
                <a:latin typeface="Aptos"/>
              </a:rP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926080"/>
            <a:ext cx="1600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7380"/>
                </a:solidFill>
                <a:latin typeface="Aptos"/>
              </a:rPr>
              <a:t>Choose options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22976" y="1938528"/>
            <a:ext cx="731520" cy="0"/>
          </a:xfrm>
          <a:prstGeom prst="line">
            <a:avLst/>
          </a:prstGeom>
          <a:ln w="19050">
            <a:solidFill>
              <a:srgbClr val="12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821424" y="1645920"/>
            <a:ext cx="594360" cy="594360"/>
          </a:xfrm>
          <a:prstGeom prst="ellipse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1755648"/>
            <a:ext cx="594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42316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340"/>
                </a:solidFill>
                <a:latin typeface="Aptos"/>
              </a:rPr>
              <a:t>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2926080"/>
            <a:ext cx="1600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7380"/>
                </a:solidFill>
                <a:latin typeface="Aptos"/>
              </a:rPr>
              <a:t>Send responses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61504" y="1938528"/>
            <a:ext cx="731520" cy="0"/>
          </a:xfrm>
          <a:prstGeom prst="line">
            <a:avLst/>
          </a:prstGeom>
          <a:ln w="19050">
            <a:solidFill>
              <a:srgbClr val="12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759952" y="1645920"/>
            <a:ext cx="594360" cy="594360"/>
          </a:xfrm>
          <a:prstGeom prst="ellipse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1755648"/>
            <a:ext cx="594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242316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340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2926080"/>
            <a:ext cx="1600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7380"/>
                </a:solidFill>
                <a:latin typeface="Aptos"/>
              </a:rPr>
              <a:t>Compare answer key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00032" y="1938528"/>
            <a:ext cx="731520" cy="0"/>
          </a:xfrm>
          <a:prstGeom prst="line">
            <a:avLst/>
          </a:prstGeom>
          <a:ln w="19050">
            <a:solidFill>
              <a:srgbClr val="12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698480" y="1645920"/>
            <a:ext cx="594360" cy="594360"/>
          </a:xfrm>
          <a:prstGeom prst="ellipse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1755648"/>
            <a:ext cx="594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42316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340"/>
                </a:solidFill>
                <a:latin typeface="Aptos"/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926080"/>
            <a:ext cx="16002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7380"/>
                </a:solidFill>
                <a:latin typeface="Aptos"/>
              </a:rPr>
              <a:t>Save and display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43400"/>
            <a:ext cx="1042416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27313D"/>
                </a:solidFill>
                <a:latin typeface="Aptos"/>
              </a:rPr>
              <a:t>Scoring concept: increment the score for each valid submitted option that matches the trusted answer key.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53895"/>
            <a:ext cx="4937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340"/>
                </a:solidFill>
                <a:latin typeface="Aptos"/>
              </a:rPr>
              <a:t>User_Master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492861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user_id (PK)
full_name • email_id (unique)
pass_hash • role_type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1828800"/>
          </a:xfrm>
          <a:prstGeom prst="rect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53895"/>
            <a:ext cx="4937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340"/>
                </a:solidFill>
                <a:latin typeface="Aptos"/>
              </a:rPr>
              <a:t>Question_Bank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7"/>
            <a:ext cx="4928616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question_id (PK)
subject_tag • query_text
option A/B/C/D • correct_ans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70332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703320"/>
            <a:ext cx="73152" cy="1645920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831335"/>
            <a:ext cx="49377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340"/>
                </a:solidFill>
                <a:latin typeface="Aptos"/>
              </a:rPr>
              <a:t>Result / Attempt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70248"/>
            <a:ext cx="4928616" cy="9875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Attempt identifier • user reference
Score • submission status • evaluation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67380"/>
                </a:solidFill>
                <a:latin typeface="Aptos"/>
              </a:rPr>
              <a:t>Primary keys identify records; unique email supports account uniqueness.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Security &amp; Data Integrity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89204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Validate all inputs on the server, even when browser-side validation is present.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Use password hashes rather than storing plain-text passwords.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Use PreparedStatement with bound parameters to reduce SQL injection risk.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Check role permissions on every protected endpoint.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Keep database credentials and detailed error messages away from the browser.</a:t>
            </a:r>
          </a:p>
          <a:p>
            <a:pPr>
              <a:spcAft>
                <a:spcPts val="1200"/>
              </a:spcAft>
              <a:defRPr sz="1900">
                <a:solidFill>
                  <a:srgbClr val="27313D"/>
                </a:solidFill>
                <a:latin typeface="Aptos"/>
              </a:defRPr>
            </a:pPr>
            <a:r>
              <a:t>Treat security checklist items as recommendations unless verified in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Test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54380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12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2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Valid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Correct role dashboard appears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Invalid login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Access denied; no session established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Duplicate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No duplicate user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Correct answer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Score increases by one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Incorrect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Score does not increase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Unauthorized admin route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Request denied by server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Repeated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No duplicate result or score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Responsive layout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7313D"/>
                          </a:solidFill>
                        </a:defRPr>
                      </a:pPr>
                      <a:r>
                        <a:t>Controls remain readable on narrow screens</a:t>
                      </a:r>
                    </a:p>
                  </a:txBody>
                  <a:tcPr>
                    <a:solidFill>
                      <a:srgbClr val="E0F4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424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B04343"/>
                </a:solidFill>
                <a:latin typeface="Aptos"/>
              </a:rPr>
              <a:t>Expected results are test criteria; record actual outcomes after running the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30-Day Internship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WORK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745D"/>
                </a:solidFill>
                <a:latin typeface="Aptos"/>
              </a:rPr>
              <a:t>Days 1–5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52144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216152"/>
            <a:ext cx="77266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Orientation and 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745D"/>
                </a:solidFill>
                <a:latin typeface="Aptos"/>
              </a:rPr>
              <a:t>Days 6–10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01952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65960"/>
            <a:ext cx="77266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Requirements, roles and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745D"/>
                </a:solidFill>
                <a:latin typeface="Aptos"/>
              </a:rPr>
              <a:t>Days 11–15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651760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15768"/>
            <a:ext cx="77266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Architecture and database schema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38144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745D"/>
                </a:solidFill>
                <a:latin typeface="Aptos"/>
              </a:rPr>
              <a:t>Days 16–20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401568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465575"/>
            <a:ext cx="77266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Relational tables and responsive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87952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745D"/>
                </a:solidFill>
                <a:latin typeface="Aptos"/>
              </a:rPr>
              <a:t>Days 21–25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151376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4215384"/>
            <a:ext cx="77266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Servlet controllers and JDBC connectivity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37759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745D"/>
                </a:solidFill>
                <a:latin typeface="Aptos"/>
              </a:rPr>
              <a:t>Days 26–30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901183"/>
            <a:ext cx="8138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965192"/>
            <a:ext cx="77266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7313D"/>
                </a:solidFill>
                <a:latin typeface="Aptos"/>
              </a:rPr>
              <a:t>Scoring logic, local testing and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22340"/>
                </a:solidFill>
                <a:latin typeface="Aptos"/>
              </a:rP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86968"/>
            <a:ext cx="1143000" cy="50292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29184"/>
            <a:ext cx="2331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14745D"/>
                </a:solidFill>
                <a:latin typeface="Aptos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4023360"/>
          </a:xfrm>
          <a:prstGeom prst="rect">
            <a:avLst/>
          </a:prstGeom>
          <a:solidFill>
            <a:srgbClr val="14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53895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22340"/>
                </a:solidFill>
                <a:latin typeface="Aptos"/>
              </a:rPr>
              <a:t>Current Documented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4882896" cy="3364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• Objective multiple-choice quizzes
• Basic score display
• Local development stack
• Responsive interface intended
• Some security controls are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4023360"/>
          </a:xfrm>
          <a:prstGeom prst="rect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53895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22340"/>
                </a:solidFill>
                <a:latin typeface="Apto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7"/>
            <a:ext cx="4882896" cy="3364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7313D"/>
                </a:solidFill>
                <a:latin typeface="Aptos"/>
              </a:rPr>
              <a:t>• Email notifications
• Topic-level analytics and progress charts
• HTTPS, backups and monitoring
• Containerized/cloud deployment
• Accessibility and load testing
• Privacy-reviewed proctoring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B04343"/>
                </a:solidFill>
                <a:latin typeface="Aptos"/>
              </a:rPr>
              <a:t>Enhancements should be implemented and tested before being claimed as completed.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ONLINE EXAMINATION &amp; QUIZ PORTAL  |  PRAKASH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673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53312"/>
            <a:ext cx="1188720" cy="54864"/>
          </a:xfrm>
          <a:prstGeom prst="rect">
            <a:avLst/>
          </a:prstGeom>
          <a:solidFill>
            <a:srgbClr val="EAB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875520" cy="292608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portal provides a structured approach to online objective assessments.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Java web technologies and MySQL support application logic and persistent data.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Automated evaluation can reduce manual effort and deliver faster feedback.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Secure authorization, reliable testing and real deployment evidence remain essential.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98755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EAB141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9875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D7E1EB"/>
                </a:solidFill>
                <a:latin typeface="Aptos"/>
              </a:rPr>
              <a:t>PRAKASH M  |  810023205007  |  Fantasy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D7E1E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